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62dcf9bd2e4f3f" /><Relationship Type="http://schemas.openxmlformats.org/officeDocument/2006/relationships/extended-properties" Target="/docProps/app.xml" Id="R6425b6448485433c" /><Relationship Type="http://schemas.openxmlformats.org/officeDocument/2006/relationships/officeDocument" Target="/ppt/presentation.xml" Id="R355bd8db78f141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8bd1c0e6e64040"/>
  </p:sldMasterIdLst>
  <p:notesMasterIdLst>
    <p:notesMasterId xmlns:r="http://schemas.openxmlformats.org/officeDocument/2006/relationships" r:id="R000b2fddff63490e"/>
  </p:notesMasterIdLst>
  <p:sldIdLst>
    <p:sldId xmlns:r="http://schemas.openxmlformats.org/officeDocument/2006/relationships" id="256" r:id="R5a620cc61c6a43b3"/>
    <p:sldId xmlns:r="http://schemas.openxmlformats.org/officeDocument/2006/relationships" id="257" r:id="R1142613a59dc4d4f"/>
    <p:sldId xmlns:r="http://schemas.openxmlformats.org/officeDocument/2006/relationships" id="258" r:id="Ra6edc09a695d4a49"/>
    <p:sldId xmlns:r="http://schemas.openxmlformats.org/officeDocument/2006/relationships" id="259" r:id="R7e083c133c5447b3"/>
    <p:sldId xmlns:r="http://schemas.openxmlformats.org/officeDocument/2006/relationships" id="260" r:id="Rd9b28c2996ee40f1"/>
    <p:sldId xmlns:r="http://schemas.openxmlformats.org/officeDocument/2006/relationships" id="261" r:id="R34da5b4905644c80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7d976c20074817" /><Relationship Type="http://schemas.openxmlformats.org/officeDocument/2006/relationships/slideMaster" Target="/ppt/slideMasters/slideMaster1.xml" Id="Rca8bd1c0e6e64040" /><Relationship Type="http://schemas.openxmlformats.org/officeDocument/2006/relationships/notesMaster" Target="/ppt/notesMasters/notesMaster1.xml" Id="R000b2fddff63490e" /><Relationship Type="http://schemas.openxmlformats.org/officeDocument/2006/relationships/presProps" Target="/ppt/presProps.xml" Id="R583a47ec9a804d72" /><Relationship Type="http://schemas.openxmlformats.org/officeDocument/2006/relationships/tableStyles" Target="/ppt/tableStyles.xml" Id="Rc58ec92e938e490b" /><Relationship Type="http://schemas.openxmlformats.org/officeDocument/2006/relationships/slide" Target="/ppt/slides/slide1.xml" Id="R5a620cc61c6a43b3" /><Relationship Type="http://schemas.openxmlformats.org/officeDocument/2006/relationships/slide" Target="/ppt/slides/slide2.xml" Id="R1142613a59dc4d4f" /><Relationship Type="http://schemas.openxmlformats.org/officeDocument/2006/relationships/slide" Target="/ppt/slides/slide3.xml" Id="Ra6edc09a695d4a49" /><Relationship Type="http://schemas.openxmlformats.org/officeDocument/2006/relationships/slide" Target="/ppt/slides/slide4.xml" Id="R7e083c133c5447b3" /><Relationship Type="http://schemas.openxmlformats.org/officeDocument/2006/relationships/slide" Target="/ppt/slides/slide5.xml" Id="Rd9b28c2996ee40f1" /><Relationship Type="http://schemas.openxmlformats.org/officeDocument/2006/relationships/slide" Target="/ppt/slides/slide6.xml" Id="R34da5b4905644c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190862132849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63157bbe72474b" /><Relationship Type="http://schemas.openxmlformats.org/officeDocument/2006/relationships/notesMaster" Target="/ppt/notesMasters/notesMaster1.xml" Id="R07394ad62d1142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54aed902ba4e6e" /><Relationship Type="http://schemas.openxmlformats.org/officeDocument/2006/relationships/notesMaster" Target="/ppt/notesMasters/notesMaster1.xml" Id="Rba3dd6dc44e246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6e150c0c6d4010" /><Relationship Type="http://schemas.openxmlformats.org/officeDocument/2006/relationships/notesMaster" Target="/ppt/notesMasters/notesMaster1.xml" Id="R65deec2119f540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488728cf9641a5" /><Relationship Type="http://schemas.openxmlformats.org/officeDocument/2006/relationships/notesMaster" Target="/ppt/notesMasters/notesMaster1.xml" Id="R2e1a0e83d7f14b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756b8e6ccf4c65" /><Relationship Type="http://schemas.openxmlformats.org/officeDocument/2006/relationships/notesMaster" Target="/ppt/notesMasters/notesMaster1.xml" Id="R36d793c8548747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d8c04927224696" /><Relationship Type="http://schemas.openxmlformats.org/officeDocument/2006/relationships/notesMaster" Target="/ppt/notesMasters/notesMaster1.xml" Id="Reb52d1a4bdc641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BelowTrace is for a resident facing a basement backup. It creates a trustworthy action record from public data and the resident's own facts. Source: City of Detroit Rise Higher framework, Reliable Transportation and Sustainable Infrastructure priority.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BelowTrace citywide snapshot, built from the City of Detroit Improve Detroit 311 public data on Sept. 18, 2026. 14,115 is a count of water-in-basement service requests since Jan. 1, 2023, not unique households or confirmed causes. The product safety conclusion follows the linked City/DWSD data and guidance: public sewer records do not locate private laterals.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Implemented product evidence: Case status distinguishes an attempted call from a completed report; local storage now stores address-specific case IDs and prevents a second address from overwriting an existing service request. Public-data caveat: no record locates private sewer lines.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Live-demo talk track, about 75 seconds: open https://belowtrace.vercel.app/case?address=16776+Prevost+St. Start a backup case. Choose 'I tried, but did not reach them' and show that it stays at step 1. Then choose the reported path, enter a service request number, and point to the printable case file. Mention that a second address produces a separate local case. Use the live site; keep the existing deck as a fallback.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BelowTrace citywide snapshot, City of Detroit Improve Detroit public 311 data, Sept. 18, 2026. 5,053 of 14,115 water-in-basement requests since 2023 were outside the 97 PSRP neighborhoods. Neighborhood examples are the highest-volume outside-PSRP areas in the snapshot: Fitzgerald/Marygrove 215, Nolan 185, Brightmoor 174. Impact is a future capability, not a claimed resident outcome.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Market hypothesis, not revenue claim: keep the resident product free, then test paid program-navigation pilots and privacy-safe aggregate service insights with nonprofit or municipal partners only after a resident pilot establishes utility. The initial size signal is 14,115 City of Detroit 311 water-in-basement requests since 2023, which is a service-request count rather than customers. Current status: product is live; no partner has agreed to a pilot yet.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f890f2d14744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ced7dce350446d" /><Relationship Type="http://schemas.openxmlformats.org/officeDocument/2006/relationships/slideLayout" Target="/ppt/slideLayouts/slideLayout1.xml" Id="Raa09268f086843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09268f086843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cbfd9881ad4f04" /><Relationship Type="http://schemas.openxmlformats.org/officeDocument/2006/relationships/notesSlide" Target="/ppt/notesSlides/notesSlide1.xml" Id="R120153cf470249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6856e83d9b4658" /><Relationship Type="http://schemas.openxmlformats.org/officeDocument/2006/relationships/notesSlide" Target="/ppt/notesSlides/notesSlide2.xml" Id="Rc3101a9c1a0845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745e3721864500" /><Relationship Type="http://schemas.openxmlformats.org/officeDocument/2006/relationships/notesSlide" Target="/ppt/notesSlides/notesSlide3.xml" Id="R188aecd3ca8a44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0b942780bf4d7c" /><Relationship Type="http://schemas.openxmlformats.org/officeDocument/2006/relationships/notesSlide" Target="/ppt/notesSlides/notesSlide4.xml" Id="Rf78fe0e56d62421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9700ef6efd4553" /><Relationship Type="http://schemas.openxmlformats.org/officeDocument/2006/relationships/notesSlide" Target="/ppt/notesSlides/notesSlide5.xml" Id="Ra19f5eb7196b430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913112be2d45d6" /><Relationship Type="http://schemas.openxmlformats.org/officeDocument/2006/relationships/notesSlide" Target="/ppt/notesSlides/notesSlide6.xml" Id="Re807596d3c4640a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540055-E972-4360-A9D3-ABF82D45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38200"/>
            <a:ext cx="1257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DETROIT INFRASTRUCTURE, MADE ACTIONABLE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FE22E0-7726-4B8E-BC46-360C58E6B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75" y="80010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A9ADA4"/>
                </a:solidFill>
                <a:latin typeface="Courier New"/>
                <a:ea typeface="Courier New"/>
                <a:cs typeface="Courier New"/>
              </a:defRPr>
            </a:pPr>
            <a:r>
              <a:rPr sz="1950" b="1">
                <a:solidFill>
                  <a:srgbClr val="A9ADA4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8E89C0-4DAB-4A46-B249-19BF5C9F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52500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02A049-4F34-407B-BD53-1D990F7A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53600"/>
            <a:ext cx="1190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ADA4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A9ADA4"/>
                </a:solidFill>
                <a:latin typeface="Courier New"/>
                <a:ea typeface="Courier New"/>
                <a:cs typeface="Courier New"/>
              </a:rPr>
              <a:t>VENTURE313 · BUILDATHON SHOWCASE · SEPTEMBER 22,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8D5632-E161-4ED8-BD0B-0634E1A6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973455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BELOWTRACE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A56F23-493C-43EA-8C93-5FAD734F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38375"/>
            <a:ext cx="12954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936"/>
          </a:bodyPr>
          <a:lstStyle xmlns:a="http://schemas.openxmlformats.org/drawingml/2006/main"/>
          <a:p xmlns:a="http://schemas.openxmlformats.org/drawingml/2006/main">
            <a:pPr algn="l">
              <a:defRPr sz="9450" b="1">
                <a:solidFill>
                  <a:srgbClr val="CCFF33"/>
                </a:solidFill>
                <a:latin typeface="Arial"/>
                <a:ea typeface="Arial"/>
                <a:cs typeface="Arial"/>
              </a:defRPr>
            </a:pPr>
            <a:r>
              <a:rPr sz="9450" b="1">
                <a:solidFill>
                  <a:srgbClr val="CCFF33"/>
                </a:solidFill>
                <a:latin typeface="Arial"/>
                <a:ea typeface="Arial"/>
                <a:cs typeface="Arial"/>
              </a:rPr>
              <a:t>BelowTrace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C76232-A4FD-47DD-8B10-19359B47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67150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603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When sewage enters a Detroit basement, turn public records into a truthful, address-specific action record.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C4EA0B-5B26-44A6-99AC-A07C9FC0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72125"/>
            <a:ext cx="876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C211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8D3648-1726-4885-B584-5D237306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67375"/>
            <a:ext cx="845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RELIABLE TRANSPORTATION &amp; INFRASTRUCTURE, AND SUSTAINABILITY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B0F295-A3B5-4662-9D3C-3874F72A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3412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9ADA4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A9ADA4"/>
                </a:solidFill>
                <a:latin typeface="Courier New"/>
                <a:ea typeface="Courier New"/>
                <a:cs typeface="Courier New"/>
              </a:rPr>
              <a:t>Built by Reff Wu · A working resident tool, not a map demo.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7C7A3E-5157-4EB2-8613-7BDA60DD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2419350"/>
            <a:ext cx="50482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1140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D4BD4A-FE26-4190-9EA0-232370B6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857500"/>
            <a:ext cx="104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375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9EC8F0-6A24-4284-A1BB-F61FCE81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3829050"/>
            <a:ext cx="3905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54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A case file that tells residents what is known, what is unknown, and what to do next.</a:t>
            </a:r>
          </a:p>
        </p:txBody>
      </p:sp>
    </p:spTree>
    <p:extLst>
      <p:ext uri="{BB962C8B-B14F-4D97-AF65-F5344CB8AC3E}">
        <p14:creationId xmlns:p14="http://schemas.microsoft.com/office/powerpoint/2010/main" val="3996538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23A0DD-A4E2-422E-9335-9512B46E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38200"/>
            <a:ext cx="1257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08349F-F2F4-4DA1-BED6-639C80BC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75" y="80010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A9ADA4"/>
                </a:solidFill>
                <a:latin typeface="Courier New"/>
                <a:ea typeface="Courier New"/>
                <a:cs typeface="Courier New"/>
              </a:defRPr>
            </a:pPr>
            <a:r>
              <a:rPr sz="1950" b="1">
                <a:solidFill>
                  <a:srgbClr val="A9ADA4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A2E38F-DC6E-4A94-8B25-FA9878EF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52500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42FAB7-C4BA-472B-B5B8-196B3529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53600"/>
            <a:ext cx="1190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ADA4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A9ADA4"/>
                </a:solidFill>
                <a:latin typeface="Courier New"/>
                <a:ea typeface="Courier New"/>
                <a:cs typeface="Courier New"/>
              </a:rPr>
              <a:t>VENTURE313 · BUILDATHON SHOWCASE · SEPTEMBER 22,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A290E3-8C7E-4314-9F0E-F15E37A1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973455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BELOWTRACE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BFD25D-C44E-4E8D-93AB-2F057B5B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15811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227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A Detroit basement backup demands a next action before the evidence exists.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D78E27-4843-40F5-A114-4146A81E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1533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781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A9ADA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A9ADA4"/>
                </a:solidFill>
                <a:latin typeface="Arial"/>
                <a:ea typeface="Arial"/>
                <a:cs typeface="Arial"/>
              </a:rPr>
              <a:t>First users are households facing a new backup or private sewer concern. They need to report, document, and find the right official route before hiring repair work.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75D4F9-F650-420F-ADDD-12F32450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164592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171A1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A23B1B-69B8-41C6-8772-9CED6F3F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00550"/>
            <a:ext cx="409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042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480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14,115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1EADA6-E099-4013-BC59-70E66119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305300"/>
            <a:ext cx="942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314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Detroit 311 water-in-basement requests since January 2023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695EAD-D384-4809-9630-A23FD60A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876800"/>
            <a:ext cx="962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9ADA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9ADA4"/>
                </a:solidFill>
                <a:latin typeface="Arial"/>
                <a:ea typeface="Arial"/>
                <a:cs typeface="Arial"/>
              </a:rPr>
              <a:t>Citywide snapshot dated Sept. 18, 2026. These are service requests, not confirmed incidents or unique households.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53C98F-5D2A-465A-8F7E-DEE54788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24600"/>
            <a:ext cx="4953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2151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FAAB9E-AFB9-4F4E-9E8C-12442A7D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657975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THE GAP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38823C-D193-4772-9B56-66F327F5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067550"/>
            <a:ext cx="4381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19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Public records, DWSD guidance, program rules, and claim steps sit on separate pages. A resident still has to decide what to do first.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73D9F4-CB76-48AE-B7EF-41CD3E3B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324600"/>
            <a:ext cx="4953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2151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F69289-9E3E-4ECF-8FA3-BF36D2A3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657975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THE RISK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204869-DA77-4032-A0A6-67479D18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7067550"/>
            <a:ext cx="4381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19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A nearby sewer record cannot prove a private connection. Only a camera inspection can establish the private line's condition.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5A5D50-174E-40D2-98A0-B1E00A0C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6324600"/>
            <a:ext cx="4953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21511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0C9A1C-7612-4894-90D3-D2083090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6657975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THE USER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E95FD7-C25D-425D-B321-FF0C6DB9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7067550"/>
            <a:ext cx="4381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19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A person dealing with water in a basement needs a truthful record before calling, cleaning, spending money, or applying.</a:t>
            </a:r>
          </a:p>
        </p:txBody>
      </p:sp>
    </p:spTree>
    <p:extLst>
      <p:ext uri="{BB962C8B-B14F-4D97-AF65-F5344CB8AC3E}">
        <p14:creationId xmlns:p14="http://schemas.microsoft.com/office/powerpoint/2010/main" val="11603620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7956AF-2DC9-4B20-B987-7C787044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38200"/>
            <a:ext cx="1257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2A1937-C7D0-45B5-AD4F-AA9DA145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75" y="80010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A9ADA4"/>
                </a:solidFill>
                <a:latin typeface="Courier New"/>
                <a:ea typeface="Courier New"/>
                <a:cs typeface="Courier New"/>
              </a:defRPr>
            </a:pPr>
            <a:r>
              <a:rPr sz="1950" b="1">
                <a:solidFill>
                  <a:srgbClr val="A9ADA4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9D51AA-E305-4ABF-9F8D-EB02B983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52500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E06B71-2C90-4084-897D-EF32BD27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53600"/>
            <a:ext cx="1190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ADA4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A9ADA4"/>
                </a:solidFill>
                <a:latin typeface="Courier New"/>
                <a:ea typeface="Courier New"/>
                <a:cs typeface="Courier New"/>
              </a:rPr>
              <a:t>VENTURE313 · BUILDATHON SHOWCASE · SEPTEMBER 22,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7A6C8B-764A-47F6-9BA3-86E4A1AB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973455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BELOWTRACE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B14659-9CDC-4F1A-85A6-0590EF8F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90700"/>
            <a:ext cx="15621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76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Three steps from an address to a usable action record.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0DEAC5-4E25-4CD9-B5B2-C8E6D645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49530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12151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7AE808-F17B-4364-B704-1D6939FF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48125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1 · LOCATE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9E93F3-DE9A-4D54-BAE4-9F6B178D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57700"/>
            <a:ext cx="4381500" cy="208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Read address-specific public records, nearby reports, program boundaries, and source dates.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751FAA-B4D2-4ABB-BAAE-758F857C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714750"/>
            <a:ext cx="49530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12151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28EB7B-91B2-4A04-99F4-FAB4F927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4048125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2 · RECORD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6FC729-54BD-4557-AA51-11D06C96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4457700"/>
            <a:ext cx="4381500" cy="208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Keep the resident's observed facts, service-request number, evidence, and deadlines. Label unknowns.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D842DD-711D-4055-A7C8-BD4AA740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3714750"/>
            <a:ext cx="49530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12151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24CF7E-8BC8-4DAB-B9B4-ED9795CE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4048125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3 · HAND OFF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3EB8D4-CF21-46D3-8610-F5771038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4457700"/>
            <a:ext cx="4381500" cy="208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Print one case record for DWSD, a plumber, an insurer, or a repair program.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64DFF4-08A1-40AE-AA5D-9C553543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81050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F3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87D43C-0D66-43D3-8BD3-5E08B470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53400"/>
            <a:ext cx="1581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309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CFF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CFF33"/>
                </a:solidFill>
                <a:latin typeface="Arial"/>
                <a:ea typeface="Arial"/>
                <a:cs typeface="Arial"/>
              </a:rPr>
              <a:t>The workflow repeats for each address and never invents a private pipe, a claim outcome, or a City decision.</a:t>
            </a:r>
          </a:p>
        </p:txBody>
      </p:sp>
    </p:spTree>
    <p:extLst>
      <p:ext uri="{BB962C8B-B14F-4D97-AF65-F5344CB8AC3E}">
        <p14:creationId xmlns:p14="http://schemas.microsoft.com/office/powerpoint/2010/main" val="397935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E986AC-E4DF-488D-A9F4-7171939D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38200"/>
            <a:ext cx="1257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PRODUCT DEMO · LIVE BUILD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FC3F49-534D-44A3-83C8-F2B0663D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75" y="80010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A9ADA4"/>
                </a:solidFill>
                <a:latin typeface="Courier New"/>
                <a:ea typeface="Courier New"/>
                <a:cs typeface="Courier New"/>
              </a:defRPr>
            </a:pPr>
            <a:r>
              <a:rPr sz="1950" b="1">
                <a:solidFill>
                  <a:srgbClr val="A9ADA4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14DDB4-1AD5-4C1F-88C2-10801AD0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52500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BD2558-2E0B-4240-925F-2A95F8D8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53600"/>
            <a:ext cx="1190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ADA4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A9ADA4"/>
                </a:solidFill>
                <a:latin typeface="Courier New"/>
                <a:ea typeface="Courier New"/>
                <a:cs typeface="Courier New"/>
              </a:rPr>
              <a:t>VENTURE313 · BUILDATHON SHOWCASE · SEPTEMBER 22,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C1620C-BB0A-4FFE-8B5C-39A9B2D2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973455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BELOWTRACE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7D22D6-14AA-413A-A730-21225EA8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1333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655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One end-to-end task: report, record, hand off.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788B2F-72E7-405F-996E-F5542A60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9ADA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9ADA4"/>
                </a:solidFill>
                <a:latin typeface="Arial"/>
                <a:ea typeface="Arial"/>
                <a:cs typeface="Arial"/>
              </a:rPr>
              <a:t>Live at belowtrace.vercel.app. Use 16776 Prevost St as the prepared demo address.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8A3B79-6CB8-4F4D-B58B-3D684A76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48577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12151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AC0707-824A-4175-AF3F-D629D089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386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01 · START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0F9C78-8CF7-4CB7-8480-CC8E7229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48200"/>
            <a:ext cx="4286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Enter an address. BelowTrace returns only recorded public data, program boundaries, and explicit unknowns.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12A21E-0CFA-4F99-A6F4-C634E090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05250"/>
            <a:ext cx="48577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12151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74BEAA-7CE7-415D-862F-86C75FB7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386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02 · RECORD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0619CC-40F0-4EED-AEFF-1E254AE3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48200"/>
            <a:ext cx="4286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Call DWSD. Save the service-request number and observed facts. An attempted call cannot advance the case.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D9B46E-98EB-44DF-BF58-1F27CCC8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905250"/>
            <a:ext cx="48577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12151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12AAE8-2CD9-4242-80DA-CFD1A6A7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2386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03 · HAND OFF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81C41B-3FFB-49BC-A406-87E80605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648200"/>
            <a:ext cx="4286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Print the address-specific case file with dates, evidence, next verified question, and official contacts.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3A5B9-3890-4976-84E5-38FEFAF7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52475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F3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2192AB-9C07-463A-BAFE-6E5BC6CA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905750"/>
            <a:ext cx="1609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78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CFF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CFF33"/>
                </a:solidFill>
                <a:latin typeface="Arial"/>
                <a:ea typeface="Arial"/>
                <a:cs typeface="Arial"/>
              </a:rPr>
              <a:t>LIVE DEMO: choose “I tried, but did not reach them” and show the case remains on step 1. Then start a separate address to show cases never mix.</a:t>
            </a:r>
          </a:p>
        </p:txBody>
      </p:sp>
    </p:spTree>
    <p:extLst>
      <p:ext uri="{BB962C8B-B14F-4D97-AF65-F5344CB8AC3E}">
        <p14:creationId xmlns:p14="http://schemas.microsoft.com/office/powerpoint/2010/main" val="20660578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AFFF5C-251F-45C5-8938-CC627FDE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38200"/>
            <a:ext cx="1257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IMPACT IN DETROIT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F948BE-5D0F-470F-AFEE-CE293F91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75" y="80010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A9ADA4"/>
                </a:solidFill>
                <a:latin typeface="Courier New"/>
                <a:ea typeface="Courier New"/>
                <a:cs typeface="Courier New"/>
              </a:defRPr>
            </a:pPr>
            <a:r>
              <a:rPr sz="1950" b="1">
                <a:solidFill>
                  <a:srgbClr val="A9ADA4"/>
                </a:solidFill>
                <a:latin typeface="Courier New"/>
                <a:ea typeface="Courier New"/>
                <a:cs typeface="Courier New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0F61AB-B279-48E2-8ABB-599CCD86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52500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CC0C11-DE55-40C6-B940-64C9B5DB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53600"/>
            <a:ext cx="1190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ADA4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A9ADA4"/>
                </a:solidFill>
                <a:latin typeface="Courier New"/>
                <a:ea typeface="Courier New"/>
                <a:cs typeface="Courier New"/>
              </a:rPr>
              <a:t>VENTURE313 · BUILDATHON SHOWCASE · SEPTEMBER 22,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3EE722-FE6D-4992-8857-A7CA1ADC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973455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BELOWTRACE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0FC5B2-A9D3-420E-B547-A4A144AA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1428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833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Detroit impact, if adopted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8266FB-44F0-45E2-81C2-68219DAE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1381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9ADA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9ADA4"/>
                </a:solidFill>
                <a:latin typeface="Arial"/>
                <a:ea typeface="Arial"/>
                <a:cs typeface="Arial"/>
              </a:rPr>
              <a:t>BelowTrace serves the City framework priority: Reliable Transportation &amp; Infrastructure, and Sustainability.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D11765-E3B0-4411-84D9-F8D22F71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164592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71A1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AC3C1A-BD38-4D68-BA30-3FA1449F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6240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154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390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5,053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783A1E-A65B-4D2C-A01F-CDC988BD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905250"/>
            <a:ext cx="1123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water-in-basement 311 requests since 2023 came from outside PSRP neighborhoods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E2B08D-F155-442E-A7B1-A8567683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362450"/>
            <a:ext cx="1123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ADA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ADA4"/>
                </a:solidFill>
                <a:latin typeface="Arial"/>
                <a:ea typeface="Arial"/>
                <a:cs typeface="Arial"/>
              </a:rPr>
              <a:t>These are requests, not unique households. The count identifies where an address-specific guide may help before a program route is known.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E42287-10C4-4A2F-87DA-AF30B01B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57850"/>
            <a:ext cx="495300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12151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9FFAFF-CAAD-4B41-AA61-13B3AB84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991225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FIRST DETROIT FOCUS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B55351-4DD9-4319-8462-0AB16B18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400800"/>
            <a:ext cx="43815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9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Households in places such as Fitzgerald/Marygrove, Nolan, and Brightmoor that reported a basement-water concern outside a PSRP neighborhood.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047724-D941-439B-A43C-A4AE8A5F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5657850"/>
            <a:ext cx="495300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12151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7EFD70-EF0B-41E5-AD7D-99566A41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5991225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MATERIAL CHANGE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DF4088-3AAC-4BF7-9128-3458D429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6400800"/>
            <a:ext cx="43815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97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One action record tells a resident what the City data says, what it cannot say, and which question to ask next before spending money.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DDD704-FA86-44E1-9AED-4CCB2177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5657850"/>
            <a:ext cx="495300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121511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22DE49-6975-4F62-908E-0C071FCA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5991225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BEYOND DETROIT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9A3111-4B61-41D7-82B0-F9F6914D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6400800"/>
            <a:ext cx="43815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7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The workflow can travel to cities with public infrastructure records and repair programs. Each city's rules and sources must be mapped locally.</a:t>
            </a:r>
          </a:p>
        </p:txBody>
      </p:sp>
    </p:spTree>
    <p:extLst>
      <p:ext uri="{BB962C8B-B14F-4D97-AF65-F5344CB8AC3E}">
        <p14:creationId xmlns:p14="http://schemas.microsoft.com/office/powerpoint/2010/main" val="1146270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5CAB60-B76E-4A0C-BF17-01837C19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38200"/>
            <a:ext cx="1257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MARKET + 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5283ED-902C-4E3B-8B4C-968297A2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75" y="80010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A9ADA4"/>
                </a:solidFill>
                <a:latin typeface="Courier New"/>
                <a:ea typeface="Courier New"/>
                <a:cs typeface="Courier New"/>
              </a:defRPr>
            </a:pPr>
            <a:r>
              <a:rPr sz="1950" b="1">
                <a:solidFill>
                  <a:srgbClr val="A9ADA4"/>
                </a:solidFill>
                <a:latin typeface="Courier New"/>
                <a:ea typeface="Courier New"/>
                <a:cs typeface="Courier New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858A2F-0AC9-47C4-8736-3B1F0F09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52500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83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E9E946-30A1-492D-85BD-6E23833D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53600"/>
            <a:ext cx="1190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ADA4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A9ADA4"/>
                </a:solidFill>
                <a:latin typeface="Courier New"/>
                <a:ea typeface="Courier New"/>
                <a:cs typeface="Courier New"/>
              </a:rPr>
              <a:t>VENTURE313 · BUILDATHON SHOWCASE · SEPTEMBER 22,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5B02B3-9D56-4438-97EE-04D87DAE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973455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BELOWTRACE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D9AAC6-73FB-45C5-A163-2D812D2F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16097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First users, a credible path, and one clear ask.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D86E35-9CE4-44C5-A3B9-75E8B6E7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1524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9ADA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9ADA4"/>
                </a:solidFill>
                <a:latin typeface="Arial"/>
                <a:ea typeface="Arial"/>
                <a:cs typeface="Arial"/>
              </a:rPr>
              <a:t>The first market is specific: Detroit households navigating a new basement-water report or a private sewer concern.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FD3085-9C82-4834-B9BB-8EE2CA5F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67150"/>
            <a:ext cx="4953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2151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6FFA90-FA4D-4572-887D-9FCAB69E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00525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FIRST USERS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8B2EDA-8856-4C6C-AC5A-42BA024A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10100"/>
            <a:ext cx="43815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Households who just filed or need to file a water-in-basement report, especially where a repair-program route is unclear.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5B34C3-D4F4-42D2-ABAD-4B32E7F2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867150"/>
            <a:ext cx="4953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2151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C171B3-0F1C-45BA-A03F-6135B5CF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4200525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REACH + SIZE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5EE2ED-06C4-467A-932E-750456D3C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4610100"/>
            <a:ext cx="43815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905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Start through one neighborhood or housing-service partner. The observed Detroit signal is 14,115 relevant 311 requests since 2023, not 14,115 customers.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F4F473-3B73-4EC6-B58F-5121A148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3867150"/>
            <a:ext cx="4953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2151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597D35-7E94-458D-9F2A-A0F6194B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4200525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CCFF33"/>
                </a:solidFill>
                <a:latin typeface="Courier New"/>
                <a:ea typeface="Courier New"/>
                <a:cs typeface="Courier New"/>
              </a:rPr>
              <a:t>SUSTAINABILITY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662827-2344-42E5-9D6A-3CE37D8D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4610100"/>
            <a:ext cx="43815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92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8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8F8F5"/>
                </a:solidFill>
                <a:latin typeface="Arial"/>
                <a:ea typeface="Arial"/>
                <a:cs typeface="Arial"/>
              </a:rPr>
              <a:t>Keep the resident tool free. After pilot evidence, offer paid program-navigation pilots and aggregate, privacy-safe service insights to nonprofit or municipal partners.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EB1ECC-2F18-4B59-BB43-01412B39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19950"/>
            <a:ext cx="164592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B211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00F887-A4D5-446F-BD98-E9A51661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543800"/>
            <a:ext cx="1524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91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CCFF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CFF33"/>
                </a:solidFill>
                <a:latin typeface="Arial"/>
                <a:ea typeface="Arial"/>
                <a:cs typeface="Arial"/>
              </a:rPr>
              <a:t>ASK: one Detroit neighborhood or housing-service partner, one sewer or housing expert, and 8–12 voluntary residents for a consent-based pilot.</a:t>
            </a:r>
          </a:p>
        </p:txBody>
      </p:sp>
    </p:spTree>
    <p:extLst>
      <p:ext uri="{BB962C8B-B14F-4D97-AF65-F5344CB8AC3E}">
        <p14:creationId xmlns:p14="http://schemas.microsoft.com/office/powerpoint/2010/main" val="13251252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2026-09-20T20:31:59.5540000Z</dcterms:created>
  <dcterms:modified xsi:type="dcterms:W3CDTF">2026-09-20T20:31:59.5540000Z</dcterms:modified>
</coreProperties>
</file>