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f4344536f94d14" /><Relationship Type="http://schemas.openxmlformats.org/officeDocument/2006/relationships/extended-properties" Target="/docProps/app.xml" Id="R1a5e605636384a97" /><Relationship Type="http://schemas.openxmlformats.org/officeDocument/2006/relationships/officeDocument" Target="/ppt/presentation.xml" Id="R1d8dec76237440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69e5bd16244686"/>
  </p:sldMasterIdLst>
  <p:notesMasterIdLst>
    <p:notesMasterId xmlns:r="http://schemas.openxmlformats.org/officeDocument/2006/relationships" r:id="Rad445808f64940b8"/>
  </p:notesMasterIdLst>
  <p:sldIdLst>
    <p:sldId xmlns:r="http://schemas.openxmlformats.org/officeDocument/2006/relationships" id="256" r:id="R3298d5ae80304ce8"/>
    <p:sldId xmlns:r="http://schemas.openxmlformats.org/officeDocument/2006/relationships" id="257" r:id="Rf5ed16a65a944523"/>
    <p:sldId xmlns:r="http://schemas.openxmlformats.org/officeDocument/2006/relationships" id="258" r:id="Rba71b34a45de458e"/>
    <p:sldId xmlns:r="http://schemas.openxmlformats.org/officeDocument/2006/relationships" id="259" r:id="Ra5566f880ba54707"/>
    <p:sldId xmlns:r="http://schemas.openxmlformats.org/officeDocument/2006/relationships" id="260" r:id="Rab93d6bec015458f"/>
    <p:sldId xmlns:r="http://schemas.openxmlformats.org/officeDocument/2006/relationships" id="261" r:id="Rf8b7cba5f6ff426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dd38c9ae16487b" /><Relationship Type="http://schemas.openxmlformats.org/officeDocument/2006/relationships/slideMaster" Target="/ppt/slideMasters/slideMaster1.xml" Id="Rfa69e5bd16244686" /><Relationship Type="http://schemas.openxmlformats.org/officeDocument/2006/relationships/notesMaster" Target="/ppt/notesMasters/notesMaster1.xml" Id="Rad445808f64940b8" /><Relationship Type="http://schemas.openxmlformats.org/officeDocument/2006/relationships/presProps" Target="/ppt/presProps.xml" Id="R44bb726d00fa4fa0" /><Relationship Type="http://schemas.openxmlformats.org/officeDocument/2006/relationships/tableStyles" Target="/ppt/tableStyles.xml" Id="R8e45c99814fe45bd" /><Relationship Type="http://schemas.openxmlformats.org/officeDocument/2006/relationships/slide" Target="/ppt/slides/slide1.xml" Id="R3298d5ae80304ce8" /><Relationship Type="http://schemas.openxmlformats.org/officeDocument/2006/relationships/slide" Target="/ppt/slides/slide2.xml" Id="Rf5ed16a65a944523" /><Relationship Type="http://schemas.openxmlformats.org/officeDocument/2006/relationships/slide" Target="/ppt/slides/slide3.xml" Id="Rba71b34a45de458e" /><Relationship Type="http://schemas.openxmlformats.org/officeDocument/2006/relationships/slide" Target="/ppt/slides/slide4.xml" Id="Ra5566f880ba54707" /><Relationship Type="http://schemas.openxmlformats.org/officeDocument/2006/relationships/slide" Target="/ppt/slides/slide5.xml" Id="Rab93d6bec015458f" /><Relationship Type="http://schemas.openxmlformats.org/officeDocument/2006/relationships/slide" Target="/ppt/slides/slide6.xml" Id="Rf8b7cba5f6ff42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e99a2def5a46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8a68a51427447f" /><Relationship Type="http://schemas.openxmlformats.org/officeDocument/2006/relationships/notesMaster" Target="/ppt/notesMasters/notesMaster1.xml" Id="Refdce763005c4d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46877305e84ac1" /><Relationship Type="http://schemas.openxmlformats.org/officeDocument/2006/relationships/notesMaster" Target="/ppt/notesMasters/notesMaster1.xml" Id="R5e977d0ffd7849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88c5932b19472b" /><Relationship Type="http://schemas.openxmlformats.org/officeDocument/2006/relationships/notesMaster" Target="/ppt/notesMasters/notesMaster1.xml" Id="Rda48d13bb5cc46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a69f47bd14447a" /><Relationship Type="http://schemas.openxmlformats.org/officeDocument/2006/relationships/notesMaster" Target="/ppt/notesMasters/notesMaster1.xml" Id="R5fb808e00f8e4c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145f51368c4d16" /><Relationship Type="http://schemas.openxmlformats.org/officeDocument/2006/relationships/notesMaster" Target="/ppt/notesMasters/notesMaster1.xml" Id="Rea3e0cee644c43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35286f970848af" /><Relationship Type="http://schemas.openxmlformats.org/officeDocument/2006/relationships/notesMaster" Target="/ppt/notesMasters/notesMaster1.xml" Id="R6e3b65ab4b4d41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BelowTrace is for a resident facing a basement backup. It creates a trustworthy action record from public data and the resident's own facts. Source: City of Detroit Rise Higher framework, Reliable Transportation and Sustainable Infrastructure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BelowTrace citywide snapshot, built from the City of Detroit Improve Detroit 311 public data on Sept. 18, 2026. 14,115 is a count of water-in-basement service requests since Jan. 1, 2023, not unique households or confirmed causes. The product safety conclusion follows the linked City/DWSD data and guidance: public sewer records do not locate private laterals.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product evidence: Case status distinguishes an attempted call from a completed report; local storage now stores address-specific case IDs and prevents a second address from overwriting an existing service request. Public-data caveat: no record locates private sewer 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Live-demo talk track, about 75 seconds: open https://belowtrace.vercel.app/case?address=16776+Prevost+St. Start a backup case. Choose 'I tried, but did not reach them' and show that it stays at step 1. Then choose the reported path, enter a service request number, and point to the printable case file. Mention that a second address produces a separate local case. Use the live site; keep the existing deck as a fallback.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BelowTrace citywide snapshot, City of Detroit Improve Detroit public 311 data, Sept. 18, 2026. 5,053 of 14,115 water-in-basement requests since 2023 were outside the 97 PSRP neighborhoods. Neighborhood examples are the highest-volume outside-PSRP areas in the snapshot: Fitzgerald/Marygrove 215, Nolan 185, Brightmoor 174. Impact is a future capability, not a claimed resident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hypothesis, not revenue claim: keep the resident product free, then test paid program-navigation pilots and privacy-safe aggregate service insights with nonprofit or municipal partners only after a resident pilot establishes utility. The initial size signal is 14,115 City of Detroit 311 water-in-basement requests since 2023, which is a service-request count rather than customers. Current status: product is live; no partner has agreed to a pilot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6b723ab7d43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329c638c98446e" /><Relationship Type="http://schemas.openxmlformats.org/officeDocument/2006/relationships/slideLayout" Target="/ppt/slideLayouts/slideLayout1.xml" Id="Rc9810100186746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810100186746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ea03363a24793" /><Relationship Type="http://schemas.openxmlformats.org/officeDocument/2006/relationships/notesSlide" Target="/ppt/notesSlides/notesSlide1.xml" Id="R6029633da0df42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b000cb19d4db6" /><Relationship Type="http://schemas.openxmlformats.org/officeDocument/2006/relationships/notesSlide" Target="/ppt/notesSlides/notesSlide2.xml" Id="R0738e63091b046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d490dcc014673" /><Relationship Type="http://schemas.openxmlformats.org/officeDocument/2006/relationships/notesSlide" Target="/ppt/notesSlides/notesSlide3.xml" Id="R2be6a3e1cda24e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c2d08f0124470" /><Relationship Type="http://schemas.openxmlformats.org/officeDocument/2006/relationships/notesSlide" Target="/ppt/notesSlides/notesSlide4.xml" Id="R73830eb9e43741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252bf9f454ae0" /><Relationship Type="http://schemas.openxmlformats.org/officeDocument/2006/relationships/notesSlide" Target="/ppt/notesSlides/notesSlide5.xml" Id="R89671f9dab0442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c2439b10f4dff" /><Relationship Type="http://schemas.openxmlformats.org/officeDocument/2006/relationships/notesSlide" Target="/ppt/notesSlides/notesSlide6.xml" Id="R70a098d5169748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6C239-519C-4EB9-BE9D-1DF0C18E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DETROIT INFRASTRUCTURE, MADE ACTIONABLE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C3D42-730D-46A9-8BDD-C09E3D0E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8D882-212D-472C-809D-B04A3E62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91446-C82C-4B18-9859-A2D36413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0E4A8-E33B-4B4C-BD2C-13031BD2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A8527-21F0-4261-AABD-3B9A499E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1295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36"/>
          </a:bodyPr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CCFF33"/>
                </a:solidFill>
                <a:latin typeface="Arial"/>
                <a:ea typeface="Arial"/>
                <a:cs typeface="Arial"/>
              </a:defRPr>
            </a:pPr>
            <a:r>
              <a:rPr sz="9450" b="1">
                <a:solidFill>
                  <a:srgbClr val="CCFF33"/>
                </a:solidFill>
                <a:latin typeface="Arial"/>
                <a:ea typeface="Arial"/>
                <a:cs typeface="Arial"/>
              </a:rPr>
              <a:t>BelowTrace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0F04D-9930-4858-AAF6-04D1D5F1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When sewage enters a Detroit basement, turn public records into a truthful, address-specific action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C2519-6648-4702-8031-786867E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2125"/>
            <a:ext cx="7048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C21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BDF03-E5CB-4264-A6A6-51D06E5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67375"/>
            <a:ext cx="674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RELIABLE TRANSPORTATION + SUSTAINABLE INFRASTRUCTURE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FF1BA-DC98-461D-9D3C-C81F234C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341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A working resident tool — not a map demo.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A3D19-9405-4CBE-838A-C2D31C09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419350"/>
            <a:ext cx="5048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40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8AA21-A59D-48CC-B3ED-7F15341E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85750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37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DD13C-4D6F-4BEB-BBC4-19EC8B70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829050"/>
            <a:ext cx="3905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case file that tells residents what is known, what is unknown, and what to do next.</a:t>
            </a:r>
          </a:p>
        </p:txBody>
      </p:sp>
    </p:spTree>
    <p:extLst>
      <p:ext uri="{BB962C8B-B14F-4D97-AF65-F5344CB8AC3E}">
        <p14:creationId xmlns:p14="http://schemas.microsoft.com/office/powerpoint/2010/main" val="812699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EDD9A-0E5D-4F55-8C72-4F5F0B87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A64F3-09E2-4F53-9A2F-2C8E7AD4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45FC8-C202-496C-9677-16F25050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99D48-EC1F-46D5-8776-A318C41B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12E9C-032A-49EC-AC54-41A37197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EF80C-19F6-4104-AD2F-20A4F9E7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581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227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Detroit basement backup demands a next action before the evidence exists.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17E9B-3184-4B74-84DB-70A2AB4E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533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781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First users are households facing a new backup or private sewer concern. They need to report, document, and find the right official route before hiring repair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FD9EF-760C-4D17-8055-E5244AF1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64592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B9E34-30AF-4F63-9C68-D068528B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042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48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14,115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6255C-BEE3-4488-A5C6-A457688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0530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Detroit 311 water-in-basement requests since January 2023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6499F-9C6D-40A6-B653-F1EAA6AF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768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Citywide snapshot dated Sept. 18, 2026. These are service requests, not confirmed incidents or unique households.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9DEBC-68E6-475E-8C52-496D9BB0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BB0EE-B212-4407-8C8A-86512D8D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579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THE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AA697-2AA4-48EE-B600-8D355A65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67550"/>
            <a:ext cx="4381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Public records, DWSD guidance, program rules, and claim steps sit on separate pages. A resident still has to decide what to do first.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FA72F-6CD5-467E-AD97-DA3D3865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3246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06C94-5E9C-4980-A557-8DD9CEE5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579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THE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076DB-7A18-406B-8E49-A62E4A42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067550"/>
            <a:ext cx="4381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nearby sewer record cannot prove a private connection. Only a camera inspection can establish the private line's condition.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351C2-D5C2-4005-9C3D-6E54383C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3246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29FDC-E35D-4CFF-A3C9-BDA5842F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66579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THE USER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B7FA6-E783-48DD-9AF5-C5D849D5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7067550"/>
            <a:ext cx="4381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person dealing with water in a basement needs a truthful record before calling, cleaning, spending money, or applying.</a:t>
            </a:r>
          </a:p>
        </p:txBody>
      </p:sp>
    </p:spTree>
    <p:extLst>
      <p:ext uri="{BB962C8B-B14F-4D97-AF65-F5344CB8AC3E}">
        <p14:creationId xmlns:p14="http://schemas.microsoft.com/office/powerpoint/2010/main" val="322023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F11ED-9A02-4195-87C8-5366092D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CD024-9AE8-4CDA-8C2C-AF0B8519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B5307-8F12-42FF-B60A-FAF04A79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DDA6D-B49F-4BC8-975D-F64655C7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5E587-D598-4D80-97F3-9F4097D7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504DE-6DE1-4324-9E66-C94CF50F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562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Three steps from an address to a usable action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AB1CC-AC5D-4456-9DD7-B2D4F19E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953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94F48-3DF8-4BCB-9A6A-DC75B9FF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48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1 · LOCATE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0BDF0-E2A2-42A6-945B-3ABC3D8C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4381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Read address-specific public records, nearby reports, program boundaries, and source 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D0257-AAEA-4418-8893-60453002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14750"/>
            <a:ext cx="4953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5B3E9-20B7-41A1-A7A0-D5C84FF5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048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2 ·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28C3C-9E5F-4F75-8E84-47E2F413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457700"/>
            <a:ext cx="4381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Keep the resident's observed facts, service-request number, evidence, and deadlines. Label unknowns.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F6CBF-89BF-446A-ABFC-C2929084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4953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5D866-EABC-4DE4-8DD3-01088E4D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048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3 · HAND 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A40FF-BFF0-443E-A03D-4C92E4AF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457700"/>
            <a:ext cx="4381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Print one case record for DWSD, a plumber, an insurer, or a repair program.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3B0A6-8DD3-4F0D-B464-0CDD0EFC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B8408-BCD9-455F-BB90-D9530457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53400"/>
            <a:ext cx="1581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CF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CFF33"/>
                </a:solidFill>
                <a:latin typeface="Arial"/>
                <a:ea typeface="Arial"/>
                <a:cs typeface="Arial"/>
              </a:rPr>
              <a:t>The workflow repeats for each address and never invents a private pipe, a claim outcome, or a City decision.</a:t>
            </a:r>
          </a:p>
        </p:txBody>
      </p:sp>
    </p:spTree>
    <p:extLst>
      <p:ext uri="{BB962C8B-B14F-4D97-AF65-F5344CB8AC3E}">
        <p14:creationId xmlns:p14="http://schemas.microsoft.com/office/powerpoint/2010/main" val="5857484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24661-2CC5-4C8E-9944-A193CFB8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PRODUCT DEMO · LIVE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5982C-8B03-49C9-8330-CAFACE68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3C8F5-5459-4684-9914-A4333356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D6F68-7478-49D1-8000-F1BF6394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30492-1177-4700-8701-12135951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3138A-691A-457D-BF2E-E2EC1B03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One end-to-end task: report, record, hand 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2B893-3ED9-434B-95B2-8F8A24A4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Live at belowtrace.vercel.app. Use 16776 Prevost St as the prepared demo address.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AF24A-B695-448E-A385-2F7BE401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2154D-8625-4ECD-89B1-125CE75E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38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01 · 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6F757-D055-483D-8BCB-EDBA5498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428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Enter an address. BelowTrace returns only recorded public data, program boundaries, and explicit unknowns.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739DA-BF5A-4A0B-B6ED-DC297899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11051-5FDC-42BE-9252-82B21718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38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02 ·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305F1-48E7-4DFB-B4D2-CD489C72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28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Call DWSD. Save the service-request number and observed facts. An attempted call cannot advance the case.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95FC5-B442-4B34-A967-2F726D7E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90525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61D0B-B687-4EDC-9137-779FDF14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238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03 · HAND 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D0D38-63F4-45FE-88EE-A56B0CDE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48200"/>
            <a:ext cx="428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Print the address-specific case file with dates, evidence, next verified question, and official contacts.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66728-FAC2-4A0F-8876-06D1F361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30AD7-4C29-4AE4-AB34-E0E750CE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05750"/>
            <a:ext cx="160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CF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CFF33"/>
                </a:solidFill>
                <a:latin typeface="Arial"/>
                <a:ea typeface="Arial"/>
                <a:cs typeface="Arial"/>
              </a:rPr>
              <a:t>LIVE DEMO: choose “I tried, but did not reach them” and show the case remains on step 1. Then start a separate address to show cases never mix.</a:t>
            </a:r>
          </a:p>
        </p:txBody>
      </p:sp>
    </p:spTree>
    <p:extLst>
      <p:ext uri="{BB962C8B-B14F-4D97-AF65-F5344CB8AC3E}">
        <p14:creationId xmlns:p14="http://schemas.microsoft.com/office/powerpoint/2010/main" val="1080039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8D411-412B-43C4-BBE8-63F4992B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IMPACT IN DETROIT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A1EB3-18BB-46DD-8009-7BE6FED5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DEDCC-554F-418D-B95A-311C3E3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2870C-0657-481E-981B-E1F38F01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84565-8A3C-4946-B8FF-6DFFD650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C67E6-D009-46F0-BBB6-F1BFFB18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428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833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Detroit impact, if adopted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54CFC-F3C0-4FAF-A433-9B805766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BelowTrace serves the City framework priority: Reliable Transportation and Sustainable Infrastructure.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5FCEF-7CDB-4286-82CD-02BB07D9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64592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470FA-623D-4D9C-8AD9-EAA187A4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624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15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39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5,053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C5B5A-E5E4-4D22-918B-A4EE2700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0525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water-in-basement 311 requests since 2023 came from outside PSRP neighborhoods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198FF-C1D3-4503-B7FE-785C809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62450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These are requests, not unique households. The count identifies where an address-specific guide may help before a program route is known.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0F5E7-1CA3-49E7-9151-452597FF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49530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83AA4-5197-4CA1-ABCF-1E91325C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912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FIRST DETROIT FOCUS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EB5DD-1308-4783-A882-018A5A85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400800"/>
            <a:ext cx="4381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9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Households in places such as Fitzgerald/Marygrove, Nolan, and Brightmoor that reported a basement-water concern outside a PSRP neighborhood.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FE956-4B22-41E1-B2D8-31AF544B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657850"/>
            <a:ext cx="49530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6515F-A5F8-45E5-9061-64C0B9DC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9912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MATERIAL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93495-0EE9-4267-A89D-A745CFEE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400800"/>
            <a:ext cx="4381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97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One action record tells a resident what the City data says, what it cannot say, and which question to ask next before spending money.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76F5F-39B2-469A-9399-9A9E35C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5657850"/>
            <a:ext cx="49530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7385B-180F-4197-9A49-7D574F9A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9912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BEYOND DETROIT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3B596-FB47-40AB-92C6-E3E1D5F7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400800"/>
            <a:ext cx="4381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The workflow can travel to cities with public infrastructure records and repair programs. Each city's rules and sources must be mapped locally.</a:t>
            </a:r>
          </a:p>
        </p:txBody>
      </p:sp>
    </p:spTree>
    <p:extLst>
      <p:ext uri="{BB962C8B-B14F-4D97-AF65-F5344CB8AC3E}">
        <p14:creationId xmlns:p14="http://schemas.microsoft.com/office/powerpoint/2010/main" val="1846430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4C7A5-2BDE-4990-BB20-9799F507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MARKET +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E8DE9-FCA2-4EC5-B0B6-5E28B642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9863C-FC14-4AE4-994A-D9A69E9D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C8676-CA51-436A-A0AE-0DA96D29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1FBC0-FD47-4FFA-BC89-575C0C7A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A125F-7EBB-4C32-B68E-DAC69B49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609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First users, a credible path, and one clear 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AF93E-7599-4F7A-9E96-DDC2E1C2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524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The first market is specific: Detroit households navigating a new basement-water report or a private sewer concern.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04462-0BB9-4433-BE01-45B41DEB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E1FA2-3FD3-4EF7-A9F1-A54B4EC9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005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FIRST 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4ADA1-511F-4E1D-BFF2-B26FC27B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381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Households who just filed or need to file a water-in-basement report, especially where a repair-program route is unclear.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C247A-62A2-4C5D-946D-02B3F179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8671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92190-3FD6-4440-B3DC-09A8FA19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2005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REACH +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F0759-E89A-4AE2-876C-0B91D6B9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610100"/>
            <a:ext cx="4381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90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Start through one neighborhood or housing-service partner. The observed Detroit signal is 14,115 relevant 311 requests since 2023, not 14,115 customers.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0B9EC-400D-4999-B55B-8D25D40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8671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7E51A-3883-4EA8-9873-70F666E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2005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SUSTAINABILITY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F9877-8FBC-4486-8161-B7E5852D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610100"/>
            <a:ext cx="4381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2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Keep the resident tool free. After pilot evidence, offer paid program-navigation pilots and aggregate, privacy-safe service insights to nonprofit or municipal partners.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4709F-A4D3-4311-973A-2E5B32F9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19950"/>
            <a:ext cx="16459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B211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5A10E-ACB6-434D-A3BB-6DD31181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43800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CF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CFF33"/>
                </a:solidFill>
                <a:latin typeface="Arial"/>
                <a:ea typeface="Arial"/>
                <a:cs typeface="Arial"/>
              </a:rPr>
              <a:t>ASK: one Detroit neighborhood or housing-service partner, one sewer or housing expert, and 8–12 voluntary residents for a consent-based pilot.</a:t>
            </a:r>
          </a:p>
        </p:txBody>
      </p:sp>
    </p:spTree>
    <p:extLst>
      <p:ext uri="{BB962C8B-B14F-4D97-AF65-F5344CB8AC3E}">
        <p14:creationId xmlns:p14="http://schemas.microsoft.com/office/powerpoint/2010/main" val="669113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2026-09-20T20:27:32.3310000Z</dcterms:created>
  <dcterms:modified xsi:type="dcterms:W3CDTF">2026-09-20T20:27:32.3320000Z</dcterms:modified>
</coreProperties>
</file>