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69fde49d544ef" /><Relationship Type="http://schemas.openxmlformats.org/officeDocument/2006/relationships/extended-properties" Target="/docProps/app.xml" Id="Rdefdec1af02549fc" /><Relationship Type="http://schemas.openxmlformats.org/officeDocument/2006/relationships/officeDocument" Target="/ppt/presentation.xml" Id="R4347885f8a9f44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02ca2b5d1a48ba"/>
  </p:sldMasterIdLst>
  <p:notesMasterIdLst>
    <p:notesMasterId xmlns:r="http://schemas.openxmlformats.org/officeDocument/2006/relationships" r:id="R9befdeddb85547d7"/>
  </p:notesMasterIdLst>
  <p:sldIdLst>
    <p:sldId xmlns:r="http://schemas.openxmlformats.org/officeDocument/2006/relationships" id="256" r:id="R9856a4a92abf45fc"/>
    <p:sldId xmlns:r="http://schemas.openxmlformats.org/officeDocument/2006/relationships" id="257" r:id="R6dd5c2874bd94638"/>
    <p:sldId xmlns:r="http://schemas.openxmlformats.org/officeDocument/2006/relationships" id="258" r:id="R521a78955f5841e7"/>
    <p:sldId xmlns:r="http://schemas.openxmlformats.org/officeDocument/2006/relationships" id="259" r:id="R4a3d1dd64b1e4514"/>
    <p:sldId xmlns:r="http://schemas.openxmlformats.org/officeDocument/2006/relationships" id="260" r:id="R82f04bf6da9d4ec7"/>
    <p:sldId xmlns:r="http://schemas.openxmlformats.org/officeDocument/2006/relationships" id="261" r:id="R59c2d066ee764fb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baa47531e47ac" /><Relationship Type="http://schemas.openxmlformats.org/officeDocument/2006/relationships/slideMaster" Target="/ppt/slideMasters/slideMaster1.xml" Id="R3d02ca2b5d1a48ba" /><Relationship Type="http://schemas.openxmlformats.org/officeDocument/2006/relationships/notesMaster" Target="/ppt/notesMasters/notesMaster1.xml" Id="R9befdeddb85547d7" /><Relationship Type="http://schemas.openxmlformats.org/officeDocument/2006/relationships/presProps" Target="/ppt/presProps.xml" Id="R922ebb02c88e466e" /><Relationship Type="http://schemas.openxmlformats.org/officeDocument/2006/relationships/tableStyles" Target="/ppt/tableStyles.xml" Id="R1e43a0e2f6ec4be8" /><Relationship Type="http://schemas.openxmlformats.org/officeDocument/2006/relationships/slide" Target="/ppt/slides/slide1.xml" Id="R9856a4a92abf45fc" /><Relationship Type="http://schemas.openxmlformats.org/officeDocument/2006/relationships/slide" Target="/ppt/slides/slide2.xml" Id="R6dd5c2874bd94638" /><Relationship Type="http://schemas.openxmlformats.org/officeDocument/2006/relationships/slide" Target="/ppt/slides/slide3.xml" Id="R521a78955f5841e7" /><Relationship Type="http://schemas.openxmlformats.org/officeDocument/2006/relationships/slide" Target="/ppt/slides/slide4.xml" Id="R4a3d1dd64b1e4514" /><Relationship Type="http://schemas.openxmlformats.org/officeDocument/2006/relationships/slide" Target="/ppt/slides/slide5.xml" Id="R82f04bf6da9d4ec7" /><Relationship Type="http://schemas.openxmlformats.org/officeDocument/2006/relationships/slide" Target="/ppt/slides/slide6.xml" Id="R59c2d066ee76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34a87db4b1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7be02019d40db" /><Relationship Type="http://schemas.openxmlformats.org/officeDocument/2006/relationships/notesMaster" Target="/ppt/notesMasters/notesMaster1.xml" Id="Rc56b9e76e2cb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02925b67845d2" /><Relationship Type="http://schemas.openxmlformats.org/officeDocument/2006/relationships/notesMaster" Target="/ppt/notesMasters/notesMaster1.xml" Id="Rdfce9bdbf6f5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6a507d5ac49a7" /><Relationship Type="http://schemas.openxmlformats.org/officeDocument/2006/relationships/notesMaster" Target="/ppt/notesMasters/notesMaster1.xml" Id="R311c9a1a614a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f26724e8d4439" /><Relationship Type="http://schemas.openxmlformats.org/officeDocument/2006/relationships/notesMaster" Target="/ppt/notesMasters/notesMaster1.xml" Id="R63b8f36505c44d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fd18b822b444f0" /><Relationship Type="http://schemas.openxmlformats.org/officeDocument/2006/relationships/notesMaster" Target="/ppt/notesMasters/notesMaster1.xml" Id="R3b8aabe49cff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dd029812a4abf" /><Relationship Type="http://schemas.openxmlformats.org/officeDocument/2006/relationships/notesMaster" Target="/ppt/notesMasters/notesMaster1.xml" Id="R744f5415e9f1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BelowTrace is for a resident facing a basement backup. It creates a trustworthy action record from public data and the resident's own facts. Source: City of Detroit Rise Higher framework, Reliable Transportation and Sustainable Infrastructure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evidence: citywide snapshot in src/data/citywide-stats.json, generated 2026-09-18: 14,115 water-in-basement 311 requests since 2023. Product safety conclusion comes from the audit: a nearby main cannot prove a private connection, and cause/claim eligibility remains unconfirmed until reviewed.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product evidence: Case status distinguishes an attempted call from a completed report; local storage now stores address-specific case IDs and prevents a second address from overwriting an existing service request. Public-data caveat: no record locates private sewer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Live-demo talk track: enter a Detroit address, open the case, choose 'I tried, but did not reach them' and show it remains at step 1. Then enter a second address to show a separate case prompt. These behaviors were verified locally after the audit fixes.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is deliberately stated as capability, not fabricated outcomes. City framework source: Detroit Mayor's Office, Rise Higher community survey and resident-driven framework release. Metrics are a proposed pilot measurement plan; no resident interviews or partner pilot have been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Execution: begin with a partner-enabled Detroit pilot before making scale claims. Beyond Detroit is an inference: municipalities with public infrastructure records and time-sensitive resident-assistance programs can reuse the facts/unknowns/action-record model, but this has not yet been validated outside Detroit.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1fc622d3948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6fef23778a4d6c" /><Relationship Type="http://schemas.openxmlformats.org/officeDocument/2006/relationships/slideLayout" Target="/ppt/slideLayouts/slideLayout1.xml" Id="R310b71c72de9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b71c72de9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a410da954316" /><Relationship Type="http://schemas.openxmlformats.org/officeDocument/2006/relationships/notesSlide" Target="/ppt/notesSlides/notesSlide1.xml" Id="Raf1b3a29c88c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5bff9d53b428d" /><Relationship Type="http://schemas.openxmlformats.org/officeDocument/2006/relationships/notesSlide" Target="/ppt/notesSlides/notesSlide2.xml" Id="Rd125231c9a05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92d8738084862" /><Relationship Type="http://schemas.openxmlformats.org/officeDocument/2006/relationships/notesSlide" Target="/ppt/notesSlides/notesSlide3.xml" Id="Racc45fc4b4f14f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d5cbb82af4d16" /><Relationship Type="http://schemas.openxmlformats.org/officeDocument/2006/relationships/notesSlide" Target="/ppt/notesSlides/notesSlide4.xml" Id="R906e74542382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e469444c3438e" /><Relationship Type="http://schemas.openxmlformats.org/officeDocument/2006/relationships/notesSlide" Target="/ppt/notesSlides/notesSlide5.xml" Id="R07b385510cb4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67e0b9c8429e" /><Relationship Type="http://schemas.openxmlformats.org/officeDocument/2006/relationships/notesSlide" Target="/ppt/notesSlides/notesSlide6.xml" Id="Rf1b1ab2e992448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65F48-A731-4197-875E-E02B436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DETROIT INFRASTRUCTURE, MADE ACTIONABLE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BE39A-18FF-4C4D-BD5A-16499E54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86050-553D-4F6E-899B-11D08BE6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67701-36C9-4F52-98B8-8DA9B92E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005E9-BFF5-432A-B706-B965943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99112-C468-4C9D-820A-DBF1D9B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295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36"/>
          </a:bodyPr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BelowTrace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5E7F9-EFB3-44F3-A73D-B905323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When sewage enters a Detroit basement, turn public records into a truthful, address-specific action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88B11-378E-4339-BC34-1D71AD4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704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C21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395B1-427B-4E36-9749-362EAB96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67375"/>
            <a:ext cx="674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RELIABLE TRANSPORTATION + SUSTAINABLE INFRASTRUCTURE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F2A53-01C5-4239-9688-6DE0B9BE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A working resident tool — not a map demo.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AB183-9129-493C-84FE-0F8F393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1935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40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F5294-FC0E-4AF2-BF52-F4A81B7F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85750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57A56-16B0-4EF9-870E-B32AD20C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829050"/>
            <a:ext cx="3905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case file that tells residents what is known, what is unknown, and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512716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45B80-522B-4FB6-BE85-A01FE3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3275C-B47F-4C18-8E21-E96B0F09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85D64-BC65-46A9-9350-1682259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58B7A-94DA-4D27-9244-80E5E41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55B30-124B-4B4E-9AAB-74CFDB7C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9DBA0-D3C9-4EAF-8F23-35B4A217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485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basement backup creates a decision crisis.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9B89E-95A8-47EE-8684-0074CF6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08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Residents must act before they know whether the city sewer, a private line, insurance, or a repair program applies.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0E90C-3C16-4BD2-8660-63437498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CEC88-93F9-4B54-BAD6-F1EFF5C2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PUBLIC DATA IS FRAGMENTED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9FD6-25E2-4D80-98B3-5DA9C0AE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4286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resident can find records, programs, and 311 data — but not a single next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EFAC1-757E-4F0E-873E-0DCC7E4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5143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7D190-11E5-48BD-B6D0-C6B2BCDE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148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UNKNOWNS ARE DANGEROUS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7043C-CDD5-4CE4-AF92-FB9B2B7A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nearby sewer record does not prove the home is connected to it; only a camera can show the private 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7AE33-272E-4652-BA12-F496B7F0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381500"/>
            <a:ext cx="45148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E6E7B-5D68-4950-9C2A-A9C1AED5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7148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BAD GUIDANCE COSTS 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7D87E-AA14-4C04-91DF-06C0A865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124450"/>
            <a:ext cx="3943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tool that predicts claim outcomes or tells people what to say can cause harm.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4459A-5218-4528-A36B-1DDF29FC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6459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7A840-247D-49D1-8E47-2D96775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8105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14,115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99D2D-5EC0-4ED7-A280-73E41106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858125"/>
            <a:ext cx="1133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311 water-in-basement requests since 2023 in the citywide data snapshot. These are requests, not unique households.</a:t>
            </a:r>
          </a:p>
        </p:txBody>
      </p:sp>
    </p:spTree>
    <p:extLst>
      <p:ext uri="{BB962C8B-B14F-4D97-AF65-F5344CB8AC3E}">
        <p14:creationId xmlns:p14="http://schemas.microsoft.com/office/powerpoint/2010/main" val="1311772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73A01-4A38-4A18-9C35-0FAA02CE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58E4E-0E31-4F56-8E70-59854C21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AF17B-FABE-42D4-AB45-5E1CB915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451D6-499E-4DC7-B0A9-1B5F7B8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D5FC9-F072-44D1-8494-0FF7C912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0B00B-F3FE-4E64-870C-0E2A91B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562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From “What happened?” to a case file someone can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AB33C-A01F-45BA-A48C-A8F9D229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4AF46-D274-41C3-BB11-F63D87E2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 · LOOK 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818AD-7870-42A3-B8C7-4B687785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Address-specific public records, nearby reports, program boundaries, and source 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AA13B-D3B0-4143-B475-FF3C9FFE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9000D-9194-4E7E-968F-4A9860E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48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2 · SEPARATE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905A2-970C-4693-8786-19E70F41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Facts, inferences, and unknowns. Never draw an unverified private lateral.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E97E8-32C1-4229-AAEE-59DBCE2F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B3E7E-0436-444C-9CA1-71A539C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3 · 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3C6DA-02D9-4538-BA98-407841BC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5770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resident records a truthful DWSD report, evidence, deadlines, and the next question.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E3C60-2E46-444F-A334-BAD53CA6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7147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A5AA5-C84D-4C96-90BA-3B7C6E41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048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4 · HAND 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B11F2-362F-46E4-AA50-3A1956DD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457700"/>
            <a:ext cx="314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printable case file for DWSD, a plumber, an insurer, or a repair program.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06B7F-EF7B-48FC-A766-715F8B9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80313-9D8D-4D13-9FF8-0F5FD0A0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53400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Core rule: a failed call stays a failed call; another address starts another case.</a:t>
            </a:r>
          </a:p>
        </p:txBody>
      </p:sp>
    </p:spTree>
    <p:extLst>
      <p:ext uri="{BB962C8B-B14F-4D97-AF65-F5344CB8AC3E}">
        <p14:creationId xmlns:p14="http://schemas.microsoft.com/office/powerpoint/2010/main" val="1432522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755D9-28C4-4363-B2F3-7D7C0FE9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PRODUCT DEMO · LIVE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105CF-AA00-4BCC-B289-A54209F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0DA4B-36C7-425F-AC57-36AE499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4E000-B8ED-42DA-9F42-A3121DB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C9982-0F63-4F7B-9EE3-45DF7005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1216C-5DAF-4616-9BDA-5BE02DB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resident can use it now.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66B9F-45A0-4810-B955-9FCECE0E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The demo proves the highest-weight rubric: product usability.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8F099-67D6-49A0-9970-893F12D6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2392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0130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2405F-022E-4762-BDD4-DB5471F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16776 PREVOST ST · DETROIT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565D6-CE72-47F6-86C3-BE0C9998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YOUR CASE · DAY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2406E-8BB7-4A20-9FF6-0D19846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50B7D-AD50-4C95-974B-9A6005A0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6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Call DWSD first. It’s free.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B9418-623C-4803-A914-7092F6E4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6000"/>
            <a:ext cx="4857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CAA96-A224-497E-9443-BF2134B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198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I reached DWSD and reported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59877-FD67-4EF9-8870-E01BC555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43700"/>
            <a:ext cx="485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28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92251-EA22-494E-9512-CFA1E94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484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561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I tried, but did not reach them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202E7-F9E5-415B-AB32-839E8973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914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Your attempt is saved. This case stays on this step until DWSD receives your report.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B95CA-F0C9-4279-86CC-9D5F93D5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62375"/>
            <a:ext cx="5429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0DAB7-7387-48B4-96BA-36CE0B5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95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TRUTHFUL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30CC1-BEAE-4A49-A8DF-29F0B9A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053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80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Call prompts ask for observed facts; no invented cause.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5923E-C4A9-4F34-81C5-813C20E2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153025"/>
            <a:ext cx="5429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05D15-0229-4766-A2D8-64EA2306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86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ADDRESS-SAFE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102E6-766A-45E9-ADEA-71B1D99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959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80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Different homes create separate local cases.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ABCC0-CBC8-4CB2-ACD8-09B168B8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5429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808FB-9271-47DF-9457-3F6AB52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8770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SOURCE-LED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4D7AF-F8A9-4216-A355-BDAC340A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2866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80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Every record shows what was recorded, estimated, or still unknown.</a:t>
            </a:r>
          </a:p>
        </p:txBody>
      </p:sp>
    </p:spTree>
    <p:extLst>
      <p:ext uri="{BB962C8B-B14F-4D97-AF65-F5344CB8AC3E}">
        <p14:creationId xmlns:p14="http://schemas.microsoft.com/office/powerpoint/2010/main" val="1822898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501B8-CB04-491B-9FD0-C19B72F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IMPACT IN DETROIT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DCCB-3528-4538-ACF9-5E7EF797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3D2C0-C7F1-4FCE-84FA-C45EAE07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BE375-1D37-4F25-ACBF-07B2978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D4358-FFF3-4FDC-B6D3-32E6AD07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BCCDE-8816-472B-BF2D-85B265A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428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33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Infrastructure help should begin with clarity.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0EF89-DF05-43FA-A016-D19D386F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BelowTrace supports the City framework priority: Reliable Transportation and Sustainable Infrastructure.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377A8-1E18-4018-89F7-3C5C253B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5CCD2-5053-454D-90AA-DF9557F4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43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PUBLIC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BCFFA-B622-4BAA-99F5-872B1A49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4381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Nearby 311 reports, city sewer records, parcel data, FEMA, HUD, and repair-program rules in one address report.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5075-CCFA-49F3-9F28-02DC1CC7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910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3297E-CB44-4479-9880-A9225DD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5243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HUMAN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6C1A7-D8F6-4DE7-82D9-597A214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933950"/>
            <a:ext cx="4381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resident learns what can be confirmed by DWSD, a plumber, an insurer, or a program — before spending money.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A87E7-E013-47A3-BFF3-207A1C16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1910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B88A9-4ED9-443E-B0E5-D9F8810F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5243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ACCOUNTABLE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D0C9E-F05A-480B-8175-AED650F1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933950"/>
            <a:ext cx="4381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printable action record preserves dates, service-request number, evidence checklist, and explicit unknowns.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65F82-8A4D-4019-9326-3A05BA7F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0"/>
            <a:ext cx="1645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B21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74B02-B82E-4960-BC19-DE46C1E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2296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Pilot measures: time to a usable case file · successful service-request capture · follow-through on the next verified action.</a:t>
            </a:r>
          </a:p>
        </p:txBody>
      </p:sp>
    </p:spTree>
    <p:extLst>
      <p:ext uri="{BB962C8B-B14F-4D97-AF65-F5344CB8AC3E}">
        <p14:creationId xmlns:p14="http://schemas.microsoft.com/office/powerpoint/2010/main" val="1577130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4C956-D9F4-4A65-B33F-A2F4DBA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MARKET +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E9CF6-371D-49A7-BB33-AFB2F5C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2E9D2-9FE1-4D6C-848B-25E71C08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8E8CE-BE63-4999-8C21-9249F59E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C8605-6385-4EAA-8152-A805470E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A2CCA-787C-4933-9AAE-E6025C5A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571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Start in Detroit. Prove trust. Reuse the operating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61320-B9CB-446A-ABD3-4CD06C8D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447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The product wedge is not a prettier map. It is a safer action record for a time-sensitive infrastructure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E5B7C-38D4-474F-A4A4-A533D5A7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76962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88E56-FDBD-4662-AA95-51E17A24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712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NEXT 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D7036-0272-4608-B4EB-BAB10FC8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7124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1. Test five real resident journeys with an approved local partner.  2. Compare action time and comprehension against today’s public-resource path.  3. Publish corrections to rules, wording, and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CC422-1726-4107-A1F0-ED6D751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24300"/>
            <a:ext cx="76962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86E3B-7F5B-40F3-AA6A-A6CE12A5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57675"/>
            <a:ext cx="712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1A0A2-0EE6-4A62-9039-B8EED39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67250"/>
            <a:ext cx="7124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Introductions to one Detroit neighborhood organization and one sewer or housing-service expert to co-design a small, consent-based pilot.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DCF89-FB56-4B38-AC0C-BD96893C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629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C1A36-E9D4-4647-ACAD-DBA0C970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05800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BelowTrace turns public infrastructure data into a next action a resident can trust.</a:t>
            </a:r>
          </a:p>
        </p:txBody>
      </p:sp>
    </p:spTree>
    <p:extLst>
      <p:ext uri="{BB962C8B-B14F-4D97-AF65-F5344CB8AC3E}">
        <p14:creationId xmlns:p14="http://schemas.microsoft.com/office/powerpoint/2010/main" val="579765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2026-09-20T18:44:32.5810000Z</dcterms:created>
  <dcterms:modified xsi:type="dcterms:W3CDTF">2026-09-20T18:44:32.5820000Z</dcterms:modified>
</coreProperties>
</file>